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72" r:id="rId3"/>
    <p:sldId id="257" r:id="rId4"/>
    <p:sldId id="266" r:id="rId5"/>
    <p:sldId id="267" r:id="rId6"/>
    <p:sldId id="276" r:id="rId7"/>
    <p:sldId id="277" r:id="rId8"/>
    <p:sldId id="273" r:id="rId9"/>
    <p:sldId id="274" r:id="rId10"/>
    <p:sldId id="279" r:id="rId11"/>
    <p:sldId id="280" r:id="rId12"/>
    <p:sldId id="27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41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89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250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55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866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61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2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341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39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07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0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3C167-7E90-4609-99F5-1C59CA0EF6E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9D993B9-3084-4F13-AC1F-101EFC1E516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92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5789F56-ED55-28B8-BCB8-92FA56AA9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cap="none" dirty="0">
                <a:solidFill>
                  <a:srgbClr val="0070C0"/>
                </a:solidFill>
              </a:rPr>
              <a:t>Project Title</a:t>
            </a:r>
            <a:br>
              <a:rPr lang="en-US" sz="3600" dirty="0"/>
            </a:br>
            <a:br>
              <a:rPr lang="en-US" sz="3600" dirty="0"/>
            </a:br>
            <a:r>
              <a:rPr lang="en-US" sz="36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Chat-Based Environment Using </a:t>
            </a:r>
            <a:br>
              <a:rPr lang="en-US" sz="36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IDS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4B4230C1-1658-190F-0445-8052E456F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9333" y="5078081"/>
            <a:ext cx="8637072" cy="977621"/>
          </a:xfrm>
        </p:spPr>
        <p:txBody>
          <a:bodyPr/>
          <a:lstStyle/>
          <a:p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  William Rateb Albeni</a:t>
            </a:r>
          </a:p>
          <a:p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By: Dr. Wassim </a:t>
            </a:r>
            <a:r>
              <a:rPr lang="en-US" cap="non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Aljuneidi</a:t>
            </a:r>
            <a:endParaRPr lang="en-US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35D64A71-2B2A-8D66-74D9-0A9C5ADFD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2" y="0"/>
            <a:ext cx="2244371" cy="188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4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29F50-9E80-03FA-4986-F7F6B4A0D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A101B51-4939-0C7F-A9CE-9FA814A1B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cap="none" dirty="0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0BFAB3D-A769-1EE9-FB4F-959571056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64895"/>
            <a:ext cx="9603275" cy="3018384"/>
          </a:xfrm>
        </p:spPr>
        <p:txBody>
          <a:bodyPr>
            <a:normAutofit/>
          </a:bodyPr>
          <a:lstStyle/>
          <a:p>
            <a:r>
              <a:rPr lang="en-US" sz="1800" b="1" dirty="0"/>
              <a:t>Project Overview:</a:t>
            </a:r>
            <a:r>
              <a:rPr lang="en-US" sz="1800" dirty="0"/>
              <a:t> A secure web-based chat application designed to protect communication privacy and study cryptographic defenses.</a:t>
            </a:r>
          </a:p>
          <a:p>
            <a:r>
              <a:rPr lang="en-US" sz="1800" b="1" dirty="0"/>
              <a:t>Core Architecture:</a:t>
            </a:r>
            <a:r>
              <a:rPr lang="en-US" sz="1800" dirty="0"/>
              <a:t> Built using a Secure Centralized broker server combined with a robust N-Tier Architecture.</a:t>
            </a:r>
            <a:endParaRPr lang="en-US" sz="1800" b="1" dirty="0"/>
          </a:p>
          <a:p>
            <a:r>
              <a:rPr lang="en-US" sz="1800" b="1" dirty="0"/>
              <a:t>The Security Focus:</a:t>
            </a:r>
            <a:r>
              <a:rPr lang="en-US" sz="1800" dirty="0"/>
              <a:t> Rather than just building a functional chat, this project is designed to implement, analyze, and test multi-layered cryptographic boundaries against network and storage threats.</a:t>
            </a:r>
          </a:p>
        </p:txBody>
      </p:sp>
    </p:spTree>
    <p:extLst>
      <p:ext uri="{BB962C8B-B14F-4D97-AF65-F5344CB8AC3E}">
        <p14:creationId xmlns:p14="http://schemas.microsoft.com/office/powerpoint/2010/main" val="301658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487E9A6-5F6A-4301-57CA-E5A30792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cap="none" dirty="0">
                <a:solidFill>
                  <a:srgbClr val="0070C0"/>
                </a:solidFill>
              </a:rPr>
              <a:t>Project Objectives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50CB626-6BD6-9988-9C41-D2F708F75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64895"/>
            <a:ext cx="9603275" cy="3018384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Implement Hybrid Cryptography:</a:t>
            </a:r>
            <a:r>
              <a:rPr lang="en-US" sz="1800" dirty="0"/>
              <a:t> Use both asymmetric (RSA) and symmetric (AES) encryption to secure data transmission and key exchange.</a:t>
            </a:r>
          </a:p>
          <a:p>
            <a:r>
              <a:rPr lang="en-US" sz="1800" b="1" dirty="0"/>
              <a:t>Enforce Storage Confidentiality (Encryption at Rest):</a:t>
            </a:r>
            <a:r>
              <a:rPr lang="en-US" sz="1800" dirty="0"/>
              <a:t> Protect historical message payloads within the database using server-managed master keys.</a:t>
            </a:r>
          </a:p>
          <a:p>
            <a:r>
              <a:rPr lang="en-US" sz="1800" b="1" dirty="0"/>
              <a:t>Establish Multi-Layered Isolation:</a:t>
            </a:r>
            <a:r>
              <a:rPr lang="en-US" sz="1800" dirty="0"/>
              <a:t> Use an N-Tier architecture to prevent direct logical access to database files from the presentation layer.</a:t>
            </a:r>
          </a:p>
          <a:p>
            <a:r>
              <a:rPr lang="en-US" sz="1800" b="1" dirty="0"/>
              <a:t>Emulate Network Threats:</a:t>
            </a:r>
            <a:r>
              <a:rPr lang="en-US" sz="1800" dirty="0"/>
              <a:t> Create a platform capable of analyzing system behavior under simulated Man-in-the-Middle (MITM) conditions.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070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7201-6010-86B9-8414-F3EF92B4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5F4B168-F92A-9C01-3B62-A2232EB39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cap="none" dirty="0">
                <a:solidFill>
                  <a:srgbClr val="0070C0"/>
                </a:solidFill>
              </a:rPr>
              <a:t>The Core Problem &amp; The Proposed Solution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FE6B4AC-DB30-431E-003C-D33F3B28F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/>
          </a:bodyPr>
          <a:lstStyle/>
          <a:p>
            <a:r>
              <a:rPr lang="en-US" sz="1800" b="1" dirty="0"/>
              <a:t>The Problem:</a:t>
            </a:r>
          </a:p>
          <a:p>
            <a:pPr lvl="1"/>
            <a:r>
              <a:rPr lang="en-US" sz="1600" dirty="0"/>
              <a:t>Standard chat applications transmit messages in plain text or rely just on basic transport security. This leaves data vulnerable to network sniffing (MITM) and database exposures.</a:t>
            </a:r>
          </a:p>
          <a:p>
            <a:r>
              <a:rPr lang="en-US" sz="1800" b="1" dirty="0"/>
              <a:t>The Proposed Solution:</a:t>
            </a:r>
          </a:p>
          <a:p>
            <a:pPr lvl="1"/>
            <a:r>
              <a:rPr lang="en-US" sz="1600" dirty="0"/>
              <a:t>A cryptographic chat architecture where the server acts as a trusted secure broker.  All data transmitted over the wire is absolutely encrypted, and data stored at rest is completely obfuscated.</a:t>
            </a:r>
          </a:p>
          <a:p>
            <a:pPr lvl="1"/>
            <a:r>
              <a:rPr lang="en-US" sz="1600" dirty="0"/>
              <a:t>Integration of a threat emulation environment to evaluate how encryption holds up against interception attempts.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18344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666E-0C01-E80C-A504-11F10FE9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3803F6A-FE25-D9AB-94DD-7156BC7A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cap="none" dirty="0">
                <a:solidFill>
                  <a:srgbClr val="0070C0"/>
                </a:solidFill>
              </a:rPr>
              <a:t>Architectural Design Phases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BFDEF1B-D953-0A39-80A6-CAF81E9BF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/>
          </a:bodyPr>
          <a:lstStyle/>
          <a:p>
            <a:r>
              <a:rPr lang="en-US" sz="1800" b="1" dirty="0"/>
              <a:t>Authentication Design Phase:</a:t>
            </a:r>
            <a:r>
              <a:rPr lang="en-US" sz="1800" dirty="0"/>
              <a:t> Implementing secure identity verification using salted hashing at the business logic layer.</a:t>
            </a:r>
          </a:p>
          <a:p>
            <a:r>
              <a:rPr lang="en-US" sz="1800" b="1" dirty="0"/>
              <a:t>Client Key Management Phase:</a:t>
            </a:r>
            <a:r>
              <a:rPr lang="en-US" sz="1800" dirty="0"/>
              <a:t> Generating asymmetric key pairs locally in the browser context for secure key distribution.</a:t>
            </a:r>
          </a:p>
          <a:p>
            <a:r>
              <a:rPr lang="en-US" sz="1800" b="1" dirty="0"/>
              <a:t>Transport Security Phase:</a:t>
            </a:r>
            <a:r>
              <a:rPr lang="en-US" sz="1800" dirty="0"/>
              <a:t> Protecting the real-time data stream using two layers of encryption.</a:t>
            </a:r>
          </a:p>
          <a:p>
            <a:r>
              <a:rPr lang="en-US" sz="1800" b="1" dirty="0"/>
              <a:t>Storage Security Phase:</a:t>
            </a:r>
            <a:r>
              <a:rPr lang="en-US" sz="1800" dirty="0"/>
              <a:t> Developing an encryption mechanism to secure payloads inside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85655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8FF6E-65ED-EE18-FA46-07ACE0D6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B796D49-A600-DF41-7C6B-FD0C9627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cap="none" dirty="0">
                <a:solidFill>
                  <a:srgbClr val="0070C0"/>
                </a:solidFill>
              </a:rPr>
              <a:t>Tools and Technologies Used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B63E372-7B11-4E14-BB85-389049133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/>
          </a:bodyPr>
          <a:lstStyle/>
          <a:p>
            <a:r>
              <a:rPr lang="en-US" sz="1800" b="1" dirty="0"/>
              <a:t>Client Cryptography:</a:t>
            </a:r>
            <a:r>
              <a:rPr lang="en-US" sz="1800" dirty="0"/>
              <a:t> Web Crypto API (</a:t>
            </a:r>
            <a:r>
              <a:rPr lang="en-US" sz="1800" dirty="0" err="1"/>
              <a:t>window.crypto.subtle</a:t>
            </a:r>
            <a:r>
              <a:rPr lang="en-US" sz="1800" dirty="0"/>
              <a:t>) for secure local RSA key pair generation; </a:t>
            </a:r>
            <a:r>
              <a:rPr lang="en-US" sz="1800" dirty="0" err="1"/>
              <a:t>CryptoJS</a:t>
            </a:r>
            <a:r>
              <a:rPr lang="en-US" sz="1800" dirty="0"/>
              <a:t> and </a:t>
            </a:r>
            <a:r>
              <a:rPr lang="en-US" sz="1800" dirty="0" err="1"/>
              <a:t>JSEncrypt</a:t>
            </a:r>
            <a:r>
              <a:rPr lang="en-US" sz="1800" dirty="0"/>
              <a:t> for AES-CBC and PKCS1 padding.</a:t>
            </a:r>
          </a:p>
          <a:p>
            <a:r>
              <a:rPr lang="en-US" sz="1800" b="1" dirty="0"/>
              <a:t>Server Security:</a:t>
            </a:r>
            <a:r>
              <a:rPr lang="en-US" sz="1800" dirty="0"/>
              <a:t> </a:t>
            </a:r>
            <a:r>
              <a:rPr lang="en-US" sz="1800" dirty="0" err="1"/>
              <a:t>System.Security.Cryptography</a:t>
            </a:r>
            <a:r>
              <a:rPr lang="en-US" sz="1800" dirty="0"/>
              <a:t> for server-side RSA decryption, AES generation, and database master-wrapping.</a:t>
            </a:r>
          </a:p>
          <a:p>
            <a:r>
              <a:rPr lang="en-US" sz="1800" b="1" dirty="0"/>
              <a:t>Password Defense:</a:t>
            </a:r>
            <a:r>
              <a:rPr lang="en-US" sz="1800" dirty="0"/>
              <a:t> </a:t>
            </a:r>
            <a:r>
              <a:rPr lang="en-US" dirty="0" err="1"/>
              <a:t>BCrypt.Net</a:t>
            </a:r>
            <a:r>
              <a:rPr lang="en-US" sz="1800" dirty="0"/>
              <a:t> to protect authentication structures against Rainbow Table and Brute-Force attacks.</a:t>
            </a:r>
          </a:p>
          <a:p>
            <a:r>
              <a:rPr lang="en-US" sz="1800" b="1" dirty="0"/>
              <a:t>Real-time Engine &amp; Database:</a:t>
            </a:r>
            <a:r>
              <a:rPr lang="en-US" sz="1800" dirty="0"/>
              <a:t> </a:t>
            </a:r>
            <a:r>
              <a:rPr lang="en-US" sz="1800" b="1" dirty="0" err="1"/>
              <a:t>SignalR</a:t>
            </a:r>
            <a:r>
              <a:rPr lang="en-US" sz="1800" dirty="0"/>
              <a:t> running over </a:t>
            </a:r>
            <a:r>
              <a:rPr lang="en-US" sz="1800" b="1" dirty="0"/>
              <a:t>WSS (WebSocket Secure)</a:t>
            </a:r>
            <a:r>
              <a:rPr lang="en-US" sz="1800" dirty="0"/>
              <a:t> for encrypted real-time delivery, monitored via SQL Server Management Studio (SSMS).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21206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2F8D7-9FFC-1658-A55C-F4E1633D4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A3D724D-F87B-4C01-996F-0DA56B49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cap="none" dirty="0">
                <a:solidFill>
                  <a:srgbClr val="0070C0"/>
                </a:solidFill>
              </a:rPr>
              <a:t>Practical Achievements (What was Executed)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BEB9770-F916-4C07-CE94-6CAAE5FF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/>
          </a:bodyPr>
          <a:lstStyle/>
          <a:p>
            <a:r>
              <a:rPr lang="en-US" sz="1800" b="1" dirty="0"/>
              <a:t>Secured Passwords Storage: </a:t>
            </a:r>
            <a:r>
              <a:rPr lang="en-US" sz="1800" dirty="0"/>
              <a:t>Verified that all users passwords are being hashed using </a:t>
            </a:r>
            <a:r>
              <a:rPr lang="en-US" sz="1800" dirty="0" err="1"/>
              <a:t>BCrypt</a:t>
            </a:r>
            <a:r>
              <a:rPr lang="en-US" sz="1800" dirty="0"/>
              <a:t> algorithm with unique Salt for each user.</a:t>
            </a:r>
          </a:p>
          <a:p>
            <a:r>
              <a:rPr lang="en-US" sz="1800" b="1" dirty="0"/>
              <a:t>Secured Storage Environment:</a:t>
            </a:r>
            <a:r>
              <a:rPr lang="en-US" sz="1800" dirty="0"/>
              <a:t> Verified that direct access to the database by any unauthorized party gives only unreadable ciphertext encrypted by the </a:t>
            </a:r>
            <a:r>
              <a:rPr lang="en-US" dirty="0" err="1"/>
              <a:t>DbMasterKey</a:t>
            </a:r>
            <a:r>
              <a:rPr lang="en-US" dirty="0"/>
              <a:t>.</a:t>
            </a:r>
          </a:p>
          <a:p>
            <a:r>
              <a:rPr lang="en-US" sz="1800" b="1" dirty="0"/>
              <a:t>Secured Transmission Data:</a:t>
            </a:r>
            <a:r>
              <a:rPr lang="en-US" sz="1800" dirty="0"/>
              <a:t> Verified that all messages are encrypted using hybrid encryption (AES + RSA), and using HTTPS for transport layer.</a:t>
            </a:r>
          </a:p>
          <a:p>
            <a:r>
              <a:rPr lang="en-US" sz="1800" b="1" dirty="0"/>
              <a:t>Secure Session Handling:</a:t>
            </a:r>
            <a:r>
              <a:rPr lang="en-US" sz="1800" dirty="0"/>
              <a:t> Implemented defensive logging structures that destroy transport keys after user logout, preventing session hijacking.</a:t>
            </a:r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585369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A6F2E-8A29-D762-67C3-B8934AD3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2685488-A822-C6A1-240F-252EF3DC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cap="none" dirty="0">
                <a:solidFill>
                  <a:srgbClr val="0070C0"/>
                </a:solidFill>
              </a:rPr>
              <a:t>Cryptographic Flow (How Data Moves Safely)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9493CBF-3EDC-DDA0-2263-5C181A1D6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/>
          </a:bodyPr>
          <a:lstStyle/>
          <a:p>
            <a:r>
              <a:rPr lang="en-US" sz="1800" b="1" dirty="0"/>
              <a:t>Phase 1: Registration &amp; Hashing</a:t>
            </a:r>
          </a:p>
          <a:p>
            <a:pPr lvl="1"/>
            <a:r>
              <a:rPr lang="en-US" sz="1600" dirty="0"/>
              <a:t>The client browser generates a </a:t>
            </a:r>
            <a:r>
              <a:rPr lang="en-US" sz="1600" b="1" dirty="0"/>
              <a:t>2048-bit RSA-OAEP</a:t>
            </a:r>
            <a:r>
              <a:rPr lang="en-US" sz="1600" dirty="0"/>
              <a:t> key pair.  The Public Key is sent to the database.</a:t>
            </a:r>
          </a:p>
          <a:p>
            <a:pPr lvl="1"/>
            <a:r>
              <a:rPr lang="en-US" sz="1600" dirty="0"/>
              <a:t>User passwords are combined with a hidden server-side </a:t>
            </a:r>
            <a:r>
              <a:rPr lang="en-US" sz="1600" b="1" dirty="0"/>
              <a:t>Pepper</a:t>
            </a:r>
            <a:r>
              <a:rPr lang="en-US" sz="1600" dirty="0"/>
              <a:t> and a random </a:t>
            </a:r>
            <a:r>
              <a:rPr lang="en-US" sz="1600" b="1" dirty="0"/>
              <a:t>Salt</a:t>
            </a:r>
            <a:r>
              <a:rPr lang="en-US" sz="1600" dirty="0"/>
              <a:t>, then hashed using </a:t>
            </a:r>
            <a:r>
              <a:rPr lang="en-US" sz="1600" b="1" dirty="0" err="1"/>
              <a:t>BCrypt</a:t>
            </a:r>
            <a:r>
              <a:rPr lang="en-US" sz="1600" dirty="0"/>
              <a:t> (with an adaptive work factor).</a:t>
            </a:r>
          </a:p>
          <a:p>
            <a:r>
              <a:rPr lang="en-US" sz="1800" b="1" dirty="0"/>
              <a:t>Phase 2: Message Transmission (Sender to Server)</a:t>
            </a:r>
          </a:p>
          <a:p>
            <a:pPr lvl="1"/>
            <a:r>
              <a:rPr lang="en-US" sz="1600" dirty="0"/>
              <a:t>The sender generates a random </a:t>
            </a:r>
            <a:r>
              <a:rPr lang="en-US" sz="1600" b="1" dirty="0"/>
              <a:t>256-bit AES</a:t>
            </a:r>
            <a:r>
              <a:rPr lang="en-US" sz="1600" dirty="0"/>
              <a:t> session key, encrypts the message, and encrypts the AES key using the </a:t>
            </a:r>
            <a:r>
              <a:rPr lang="en-US" sz="1600" b="1" dirty="0"/>
              <a:t>Server’s RSA Public Key.</a:t>
            </a:r>
          </a:p>
        </p:txBody>
      </p:sp>
    </p:spTree>
    <p:extLst>
      <p:ext uri="{BB962C8B-B14F-4D97-AF65-F5344CB8AC3E}">
        <p14:creationId xmlns:p14="http://schemas.microsoft.com/office/powerpoint/2010/main" val="3484247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5FDF-EDDA-0296-E833-38CEFCEE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CC954B6-4E38-E353-B6EF-F63B51EE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cap="none" dirty="0">
                <a:solidFill>
                  <a:srgbClr val="0070C0"/>
                </a:solidFill>
              </a:rPr>
              <a:t>Cryptographic Flow (How Data Moves Safely)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E647921-BDC7-6482-51CE-694850D95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/>
          </a:bodyPr>
          <a:lstStyle/>
          <a:p>
            <a:r>
              <a:rPr lang="en-US" sz="1800" b="1" dirty="0"/>
              <a:t>Phase 3: Server Processing &amp; Storage</a:t>
            </a:r>
          </a:p>
          <a:p>
            <a:pPr lvl="1"/>
            <a:r>
              <a:rPr lang="en-US" sz="1600" dirty="0"/>
              <a:t>The server decrypts the session key using its </a:t>
            </a:r>
            <a:r>
              <a:rPr lang="en-US" sz="1600" b="1" dirty="0"/>
              <a:t>Server Private Key</a:t>
            </a:r>
            <a:r>
              <a:rPr lang="en-US" sz="1600" dirty="0"/>
              <a:t>, and encrypts the payload with a </a:t>
            </a:r>
            <a:r>
              <a:rPr lang="en-US" sz="1600" b="1" dirty="0" err="1"/>
              <a:t>DbMasterKey</a:t>
            </a:r>
            <a:r>
              <a:rPr lang="en-US" sz="1600" dirty="0"/>
              <a:t> before storing it in the database.</a:t>
            </a:r>
          </a:p>
          <a:p>
            <a:r>
              <a:rPr lang="en-US" sz="1800" b="1" dirty="0"/>
              <a:t>Phase 4: Server to Receiver Delivery</a:t>
            </a:r>
          </a:p>
          <a:p>
            <a:pPr lvl="1"/>
            <a:r>
              <a:rPr lang="en-US" sz="1600" dirty="0"/>
              <a:t>When delivering a message, the server generates a new AES session key, encrypts the message, encrypts this new key using the </a:t>
            </a:r>
            <a:r>
              <a:rPr lang="en-US" sz="1600" b="1" dirty="0"/>
              <a:t>Receiver's RSA Public Key</a:t>
            </a:r>
            <a:r>
              <a:rPr lang="en-US" sz="1600" dirty="0"/>
              <a:t>, and pushes it via </a:t>
            </a:r>
            <a:r>
              <a:rPr lang="en-US" sz="1600" dirty="0" err="1"/>
              <a:t>SignalR</a:t>
            </a:r>
            <a:r>
              <a:rPr lang="en-US" sz="1600" dirty="0"/>
              <a:t>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74188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صورة 6">
            <a:extLst>
              <a:ext uri="{FF2B5EF4-FFF2-40B4-BE49-F238E27FC236}">
                <a16:creationId xmlns:a16="http://schemas.microsoft.com/office/drawing/2014/main" id="{B4A6CAB6-4222-E6DC-E995-4C676F419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88" y="1009388"/>
            <a:ext cx="5948812" cy="5047284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0DFE05C5-FAC9-C906-DBD6-BCFDA504A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610" y="1004174"/>
            <a:ext cx="6119390" cy="5052498"/>
          </a:xfrm>
          <a:prstGeom prst="rect">
            <a:avLst/>
          </a:prstGeom>
        </p:spPr>
      </p:pic>
      <p:sp>
        <p:nvSpPr>
          <p:cNvPr id="10" name="مربع نص 9">
            <a:extLst>
              <a:ext uri="{FF2B5EF4-FFF2-40B4-BE49-F238E27FC236}">
                <a16:creationId xmlns:a16="http://schemas.microsoft.com/office/drawing/2014/main" id="{04DB188C-7342-8DC0-FCC9-CF7D7DBE1135}"/>
              </a:ext>
            </a:extLst>
          </p:cNvPr>
          <p:cNvSpPr txBox="1"/>
          <p:nvPr/>
        </p:nvSpPr>
        <p:spPr>
          <a:xfrm>
            <a:off x="2399070" y="452783"/>
            <a:ext cx="1799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Registration</a:t>
            </a: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227E78B9-D839-8360-5CB1-865F0292781E}"/>
              </a:ext>
            </a:extLst>
          </p:cNvPr>
          <p:cNvSpPr txBox="1"/>
          <p:nvPr/>
        </p:nvSpPr>
        <p:spPr>
          <a:xfrm>
            <a:off x="8460658" y="452783"/>
            <a:ext cx="1799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Logging in</a:t>
            </a:r>
          </a:p>
        </p:txBody>
      </p:sp>
    </p:spTree>
    <p:extLst>
      <p:ext uri="{BB962C8B-B14F-4D97-AF65-F5344CB8AC3E}">
        <p14:creationId xmlns:p14="http://schemas.microsoft.com/office/powerpoint/2010/main" val="4724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F53D80F8-1451-F536-A677-ECB2565E9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23" y="0"/>
            <a:ext cx="11080955" cy="60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5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4886-ECDC-3BC3-AFDA-2E618A867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9EFBCB8-C5E3-84FE-D851-B19998D7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cap="none" dirty="0">
                <a:solidFill>
                  <a:srgbClr val="0070C0"/>
                </a:solidFill>
              </a:rPr>
              <a:t>Future Horizons (Next Steps)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86F63DB-FD22-0F7F-7214-32A895582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37749"/>
          </a:xfrm>
        </p:spPr>
        <p:txBody>
          <a:bodyPr>
            <a:normAutofit/>
          </a:bodyPr>
          <a:lstStyle/>
          <a:p>
            <a:r>
              <a:rPr lang="en-US" sz="1800" b="1" dirty="0"/>
              <a:t>Token-Based Authentication:</a:t>
            </a:r>
            <a:r>
              <a:rPr lang="en-US" sz="1800" dirty="0"/>
              <a:t> Implementing and strictly validating </a:t>
            </a:r>
            <a:r>
              <a:rPr lang="en-US" sz="1800" b="1" dirty="0"/>
              <a:t>JSON Web Tokens (JWT)</a:t>
            </a:r>
            <a:r>
              <a:rPr lang="en-US" sz="1800" dirty="0"/>
              <a:t> to replace basic identity checks and enforce cryptographic session state.</a:t>
            </a:r>
          </a:p>
          <a:p>
            <a:r>
              <a:rPr lang="en-US" sz="1800" b="1" dirty="0"/>
              <a:t>Server-Side MITM Emulation:</a:t>
            </a:r>
            <a:r>
              <a:rPr lang="en-US" sz="1800" dirty="0"/>
              <a:t> implementing the attack code that will automatically do the attack on the server side when it is being enabled. </a:t>
            </a:r>
          </a:p>
          <a:p>
            <a:r>
              <a:rPr lang="en-US" sz="1800" b="1" dirty="0"/>
              <a:t>AI-Based Intrusion Detection System (IDS):</a:t>
            </a:r>
            <a:r>
              <a:rPr lang="en-US" sz="1800" dirty="0"/>
              <a:t> for monitoring real-time </a:t>
            </a:r>
            <a:r>
              <a:rPr lang="en-US" sz="1800" dirty="0" err="1"/>
              <a:t>SignalR</a:t>
            </a:r>
            <a:r>
              <a:rPr lang="en-US" sz="1800" dirty="0"/>
              <a:t> packet behaviors and automatically detect anomalies and attack (MITM).</a:t>
            </a:r>
          </a:p>
          <a:p>
            <a:r>
              <a:rPr lang="en-US" sz="1800" b="1" dirty="0"/>
              <a:t>Visualization:</a:t>
            </a:r>
            <a:r>
              <a:rPr lang="en-US" sz="1800" dirty="0"/>
              <a:t> generating real-time security alerts and visualizing attack patterns to study defense efficiency.</a:t>
            </a:r>
          </a:p>
        </p:txBody>
      </p:sp>
    </p:spTree>
    <p:extLst>
      <p:ext uri="{BB962C8B-B14F-4D97-AF65-F5344CB8AC3E}">
        <p14:creationId xmlns:p14="http://schemas.microsoft.com/office/powerpoint/2010/main" val="2554965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178C1720-D067-CAD2-1C4C-59FF50508E35}"/>
              </a:ext>
            </a:extLst>
          </p:cNvPr>
          <p:cNvSpPr txBox="1"/>
          <p:nvPr/>
        </p:nvSpPr>
        <p:spPr>
          <a:xfrm>
            <a:off x="3554360" y="2517057"/>
            <a:ext cx="5894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accent5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99523531"/>
      </p:ext>
    </p:extLst>
  </p:cSld>
  <p:clrMapOvr>
    <a:masterClrMapping/>
  </p:clrMapOvr>
</p:sld>
</file>

<file path=ppt/theme/theme1.xml><?xml version="1.0" encoding="utf-8"?>
<a:theme xmlns:a="http://schemas.openxmlformats.org/drawingml/2006/main" name="معرض">
  <a:themeElements>
    <a:clrScheme name="معرض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معرض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معرض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845</TotalTime>
  <Words>810</Words>
  <Application>Microsoft Office PowerPoint</Application>
  <PresentationFormat>شاشة عريضة</PresentationFormat>
  <Paragraphs>52</Paragraphs>
  <Slides>13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7" baseType="lpstr">
      <vt:lpstr>Arial</vt:lpstr>
      <vt:lpstr>Calibri</vt:lpstr>
      <vt:lpstr>Gill Sans MT</vt:lpstr>
      <vt:lpstr>معرض</vt:lpstr>
      <vt:lpstr>Project Title  Secure Chat-Based Environment Using  AI-Based IDS</vt:lpstr>
      <vt:lpstr>Introduction</vt:lpstr>
      <vt:lpstr>Project Objectives</vt:lpstr>
      <vt:lpstr>The Core Problem &amp; The Proposed Solution</vt:lpstr>
      <vt:lpstr>Architectural Design Phases</vt:lpstr>
      <vt:lpstr>Tools and Technologies Used</vt:lpstr>
      <vt:lpstr>Practical Achievements (What was Executed)</vt:lpstr>
      <vt:lpstr>Cryptographic Flow (How Data Moves Safely)</vt:lpstr>
      <vt:lpstr>Cryptographic Flow (How Data Moves Safely)</vt:lpstr>
      <vt:lpstr>عرض تقديمي في PowerPoint</vt:lpstr>
      <vt:lpstr>عرض تقديمي في PowerPoint</vt:lpstr>
      <vt:lpstr>Future Horizons (Next Steps)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Albeni</dc:creator>
  <cp:lastModifiedBy>William Albeni</cp:lastModifiedBy>
  <cp:revision>16</cp:revision>
  <dcterms:created xsi:type="dcterms:W3CDTF">2026-03-09T20:22:05Z</dcterms:created>
  <dcterms:modified xsi:type="dcterms:W3CDTF">2026-05-28T18:15:19Z</dcterms:modified>
</cp:coreProperties>
</file>